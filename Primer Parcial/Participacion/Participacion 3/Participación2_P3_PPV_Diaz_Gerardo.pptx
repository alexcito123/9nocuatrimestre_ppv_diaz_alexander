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Scrum: Metodología Ágil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57201" y="1371600"/>
            <a:ext cx="5689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Gerardo Alexander Díaz León</a:t>
            </a:r>
            <a:endParaRPr b="1"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Proyecto de una Plataforma Virtual</a:t>
            </a:r>
            <a:endParaRPr b="1"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Mario Alonso Segovia Gutiérrez</a:t>
            </a:r>
            <a:endParaRPr b="1"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29/05/26</a:t>
            </a:r>
            <a:endParaRPr b="1"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2100" y="3357400"/>
            <a:ext cx="5590401" cy="293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48695" y="1371600"/>
            <a:ext cx="7589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Metodología ágil para gestión de proyectos que busca entregas rápidas y continuas, mejorando la colaboración y adaptación para la soluciona problemas de cambios constantes.</a:t>
            </a:r>
            <a:endParaRPr b="1" sz="20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047" y="3430550"/>
            <a:ext cx="4685901" cy="24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Contexto y Origen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31520" y="1371600"/>
            <a:ext cx="7589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Surge en los años 90, creada por Ken Schwaber y Jeff Sutherland que se inspirada en trabajo colaborativo para responde a proyectos lentos y rígidos.</a:t>
            </a:r>
            <a:endParaRPr b="1" sz="2000"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00" y="3237050"/>
            <a:ext cx="5315002" cy="298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Funcionamiento General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125" y="1371600"/>
            <a:ext cx="43353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1. Product Backlog: Es una lista dinámica y priorizada que contiene todo el trabajo, funciones, correcciones de errores y mejoras pendientes para un producto. </a:t>
            </a:r>
            <a:endParaRPr b="1" sz="1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2. Sprint Planning:  Es la reunión formal que marca el inicio de un nuevo Sprint en Scrum.</a:t>
            </a:r>
            <a:endParaRPr b="1" sz="1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3. Sprint: Es un ciclo de tiempo corto y fijo (generalmente de 1 a 4 semanas).</a:t>
            </a:r>
            <a:endParaRPr b="1" sz="1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4. Daily Scrum: Es un evento de 15 minutos para que los desarrolladores del equipo Scrum sincronicen sus actividades y creen un plan para las próximas 24 horas</a:t>
            </a:r>
            <a:endParaRPr b="1" sz="1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5. Sprint Review: Es la reunión que se realiza al final del Sprint donde el equipo Scrum y los interesados (stakeholders) inspeccionan el resultado del trabajo.</a:t>
            </a:r>
            <a:endParaRPr b="1" sz="1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6. Sprint Retrospective: Es la reunión de cierre del Sprint. </a:t>
            </a:r>
            <a:endParaRPr b="1" sz="900"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09313"/>
            <a:ext cx="4335324" cy="243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Flujo de Trabajo Scrum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548695" y="1250975"/>
            <a:ext cx="75894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El cliente define prioridades.</a:t>
            </a:r>
            <a:br>
              <a:rPr b="1" lang="en-US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El equipo trabaja en Sprints.</a:t>
            </a:r>
            <a:br>
              <a:rPr b="1" lang="en-US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Se realizan reuniones diarias.</a:t>
            </a:r>
            <a:br>
              <a:rPr b="1" lang="en-US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Se entrega un incremento funcional.</a:t>
            </a:r>
            <a:endParaRPr b="1" sz="1700"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597" y="3004497"/>
            <a:ext cx="5357599" cy="292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Organización del Equipo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731525" y="1371600"/>
            <a:ext cx="7389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Roles:</a:t>
            </a:r>
            <a:b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Product Owner: Es el rol de Scrum responsable de maximizar el valor del producto que construye el equipo. Es el puente directo entre las necesidades del negocio/clientes y el equipo técnico.</a:t>
            </a:r>
            <a:endParaRPr b="1" sz="1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Scrum Master: es el rol responsable de liderar y apoyar al equipo para que entienda y adopte Scrum a fondo.</a:t>
            </a:r>
            <a:endParaRPr b="1" sz="1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Developers:  son los profesionales dentro del equipo Scrum que se comprometen a crear cualquier aspecto de un incremento de producto útil en cada Sprint.</a:t>
            </a:r>
            <a:endParaRPr b="1" sz="1200"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375" y="4302900"/>
            <a:ext cx="4115227" cy="240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Gestión de Tareas y Proyectos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31520" y="1371600"/>
            <a:ext cx="7589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Se suelen utilizar los Backlogs para priorización de tareas y darle un seguimiento mediante tableros.</a:t>
            </a:r>
            <a:br>
              <a:rPr lang="en-US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Herramientas: Jira, Trello, Azure DevOps.</a:t>
            </a:r>
            <a:endParaRPr/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086" y="3060950"/>
            <a:ext cx="4561824" cy="23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660" y="4219650"/>
            <a:ext cx="1986290" cy="198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3310" y="4355725"/>
            <a:ext cx="1986290" cy="1986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652148" y="1394275"/>
            <a:ext cx="43167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Flexibilidad.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Entregas rápidas.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Mejor comunicación.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Mayor control del proyecto.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Adaptación a cambios.</a:t>
            </a:r>
            <a:endParaRPr b="1" sz="2000"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475" y="3560700"/>
            <a:ext cx="5253042" cy="306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Desventajas</a:t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20198" y="1335600"/>
            <a:ext cx="48951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Muchas reuniones.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Dependencia del cliente.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Difícil adaptación inicial.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Menor documentación.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Requiere equipos organizados.</a:t>
            </a:r>
            <a:endParaRPr b="1" sz="2000"/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544" y="3611325"/>
            <a:ext cx="5082920" cy="28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731520" y="1371600"/>
            <a:ext cx="7589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Ecommerce: Si un competidor saca una nueva función, el Product Owner puede meter esa prioridad al Product Backlog de inmediato.</a:t>
            </a:r>
            <a:br>
              <a:rPr lang="en-US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Empresas: </a:t>
            </a:r>
            <a:r>
              <a:rPr lang="en-US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Amazon, Mercado Libre, etc. </a:t>
            </a:r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626" y="3060960"/>
            <a:ext cx="4037202" cy="2690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003" y="3902125"/>
            <a:ext cx="2294373" cy="2252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Ejemplo Práctico</a:t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559248" y="1371600"/>
            <a:ext cx="3840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El Problema de Negocio: El Dueño del Producto (Product Owner) detecta en las métricas que el 40% de los usuarios abandona el carrito de compras en el último paso porque les da flojera escribir manualmente todos los números de su tarjeta de crédito. El negocio está perdiendo millones.</a:t>
            </a:r>
            <a:endParaRPr b="1" sz="1200"/>
          </a:p>
        </p:txBody>
      </p:sp>
      <p:sp>
        <p:nvSpPr>
          <p:cNvPr id="170" name="Google Shape;170;p23"/>
          <p:cNvSpPr txBox="1"/>
          <p:nvPr/>
        </p:nvSpPr>
        <p:spPr>
          <a:xfrm>
            <a:off x="4793798" y="1371600"/>
            <a:ext cx="384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Sprint Planning (La Planeación): El equipo se reúne el lunes por la mañana. Acuerdan un Sprint de 2 semanas. La Meta del Sprint: "Lograr que el usuario registre su tarjeta de crédito usando la cámara de forma segura". </a:t>
            </a:r>
            <a:endParaRPr b="1" sz="1200"/>
          </a:p>
        </p:txBody>
      </p:sp>
      <p:sp>
        <p:nvSpPr>
          <p:cNvPr id="171" name="Google Shape;171;p23"/>
          <p:cNvSpPr txBox="1"/>
          <p:nvPr/>
        </p:nvSpPr>
        <p:spPr>
          <a:xfrm>
            <a:off x="559248" y="3973000"/>
            <a:ext cx="384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Sprint Planning (La Planeación): </a:t>
            </a: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 la mitad del Sprint, el equipo se junta de pie durante 15 minutos frente a su tablero digital.</a:t>
            </a:r>
            <a:endParaRPr b="1" sz="1200"/>
          </a:p>
        </p:txBody>
      </p:sp>
      <p:sp>
        <p:nvSpPr>
          <p:cNvPr id="172" name="Google Shape;172;p23"/>
          <p:cNvSpPr txBox="1"/>
          <p:nvPr/>
        </p:nvSpPr>
        <p:spPr>
          <a:xfrm>
            <a:off x="4793798" y="3680400"/>
            <a:ext cx="3840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Sprint Review (La Revisión del Producto)</a:t>
            </a: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Es el último viernes del Sprint. El Product Owner invitó al Director de Finanzas y al Director de Ciberseguridad de la empresa.</a:t>
            </a:r>
            <a:endParaRPr b="1" sz="1200"/>
          </a:p>
        </p:txBody>
      </p:sp>
      <p:sp>
        <p:nvSpPr>
          <p:cNvPr id="173" name="Google Shape;173;p23"/>
          <p:cNvSpPr txBox="1"/>
          <p:nvPr/>
        </p:nvSpPr>
        <p:spPr>
          <a:xfrm>
            <a:off x="559248" y="5466200"/>
            <a:ext cx="384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Sprint Retrospective (La Mejora del Equipo):</a:t>
            </a: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Antes de irse a descansar, el equipo se reúne a puerta cerrada para analizar cómo trabajaron</a:t>
            </a:r>
            <a:endParaRPr b="1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Comparativa: Scrum vs Cascada</a:t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731522" y="1371600"/>
            <a:ext cx="3177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Scrum: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Flexible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Cambios rápidos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Entregas continuas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Cascada: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Estructura rígida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Cambios difíciles</a:t>
            </a:r>
            <a:b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Entrega final única</a:t>
            </a:r>
            <a:endParaRPr b="1" sz="2000"/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301" y="1630055"/>
            <a:ext cx="3177300" cy="31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731520" y="1371600"/>
            <a:ext cx="758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Scrum mejora organización y facilita adaptación para favorecer entregas rápidas y recomendaciones para proyectos dinámicos.</a:t>
            </a:r>
            <a:endParaRPr b="1" sz="2000"/>
          </a:p>
        </p:txBody>
      </p:sp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350" y="2847275"/>
            <a:ext cx="5032099" cy="34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