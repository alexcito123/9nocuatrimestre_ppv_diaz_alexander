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</a:rPr>
              <a:t>Scrum: Metodología Ágil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Exposición sobre la metodología Scrum</a:t>
            </a:r>
            <a:br/>
            <a:r>
              <a:t>Desarrollo de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011680" cy="1097280"/>
          </a:xfrm>
          <a:prstGeom prst="roundRect">
            <a:avLst/>
          </a:prstGeom>
          <a:solidFill>
            <a:srgbClr val="DC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</a:rPr>
              <a:t>Definición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• Metodología ágil para gestión de proyectos.</a:t>
            </a:r>
            <a:br/>
            <a:r>
              <a:t>• Busca entregas rápidas y continuas.</a:t>
            </a:r>
            <a:br/>
            <a:r>
              <a:t>• Mejora colaboración y adaptación.</a:t>
            </a:r>
            <a:br/>
            <a:r>
              <a:t>• Soluciona problemas de cambios constantes.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011680" cy="1097280"/>
          </a:xfrm>
          <a:prstGeom prst="roundRect">
            <a:avLst/>
          </a:prstGeom>
          <a:solidFill>
            <a:srgbClr val="DC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</a:rPr>
              <a:t>Contexto y Origen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• Surge en los años 90.</a:t>
            </a:r>
            <a:br/>
            <a:r>
              <a:t>• Creada por Ken Schwaber y Jeff Sutherland.</a:t>
            </a:r>
            <a:br/>
            <a:r>
              <a:t>• Inspirada en trabajo colaborativo.</a:t>
            </a:r>
            <a:br/>
            <a:r>
              <a:t>• Responde a proyectos lentos y rígidos.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011680" cy="1097280"/>
          </a:xfrm>
          <a:prstGeom prst="roundRect">
            <a:avLst/>
          </a:prstGeom>
          <a:solidFill>
            <a:srgbClr val="DC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</a:rPr>
              <a:t>Funcionamiento General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1. Product Backlog</a:t>
            </a:r>
            <a:br/>
            <a:r>
              <a:t>2. Sprint Planning</a:t>
            </a:r>
            <a:br/>
            <a:r>
              <a:t>3. Sprint</a:t>
            </a:r>
            <a:br/>
            <a:r>
              <a:t>4. Daily Scrum</a:t>
            </a:r>
            <a:br/>
            <a:r>
              <a:t>5. Sprint Review</a:t>
            </a:r>
            <a:br/>
            <a:r>
              <a:t>6. Sprint Retrospective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011680" cy="1097280"/>
          </a:xfrm>
          <a:prstGeom prst="roundRect">
            <a:avLst/>
          </a:prstGeom>
          <a:solidFill>
            <a:srgbClr val="DC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</a:rPr>
              <a:t>Flujo de Trabajo Scrum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• El cliente define prioridades.</a:t>
            </a:r>
            <a:br/>
            <a:r>
              <a:t>• El equipo trabaja en Sprints.</a:t>
            </a:r>
            <a:br/>
            <a:r>
              <a:t>• Se realizan reuniones diarias.</a:t>
            </a:r>
            <a:br/>
            <a:r>
              <a:t>• Se entrega un incremento funcional.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011680" cy="1097280"/>
          </a:xfrm>
          <a:prstGeom prst="roundRect">
            <a:avLst/>
          </a:prstGeom>
          <a:solidFill>
            <a:srgbClr val="DC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</a:rPr>
              <a:t>Organización del Equipo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Roles:</a:t>
            </a:r>
            <a:br/>
            <a:r>
              <a:t>• Product Owner</a:t>
            </a:r>
            <a:br/>
            <a:r>
              <a:t>• Scrum Master</a:t>
            </a:r>
            <a:br/>
            <a:r>
              <a:t>• Developers</a:t>
            </a:r>
            <a:br/>
            <a:br/>
            <a:r>
              <a:t>Trabajo colaborativo y seguimiento continuo.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011680" cy="1097280"/>
          </a:xfrm>
          <a:prstGeom prst="roundRect">
            <a:avLst/>
          </a:prstGeom>
          <a:solidFill>
            <a:srgbClr val="DC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</a:rPr>
              <a:t>Gestión de Tareas y Proyectos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• Uso de Backlogs.</a:t>
            </a:r>
            <a:br/>
            <a:r>
              <a:t>• Priorización de tareas.</a:t>
            </a:r>
            <a:br/>
            <a:r>
              <a:t>• Seguimiento mediante tableros.</a:t>
            </a:r>
            <a:br/>
            <a:r>
              <a:t>• Herramientas: Jira, Trello, Azure DevOps.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011680" cy="1097280"/>
          </a:xfrm>
          <a:prstGeom prst="roundRect">
            <a:avLst/>
          </a:prstGeom>
          <a:solidFill>
            <a:srgbClr val="DC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</a:rPr>
              <a:t>Ventajas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• Flexibilidad.</a:t>
            </a:r>
            <a:br/>
            <a:r>
              <a:t>• Entregas rápidas.</a:t>
            </a:r>
            <a:br/>
            <a:r>
              <a:t>• Mejor comunicación.</a:t>
            </a:r>
            <a:br/>
            <a:r>
              <a:t>• Mayor control del proyecto.</a:t>
            </a:r>
            <a:br/>
            <a:r>
              <a:t>• Adaptación a cambios.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011680" cy="1097280"/>
          </a:xfrm>
          <a:prstGeom prst="roundRect">
            <a:avLst/>
          </a:prstGeom>
          <a:solidFill>
            <a:srgbClr val="DC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</a:rPr>
              <a:t>Desventajas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• Muchas reuniones.</a:t>
            </a:r>
            <a:br/>
            <a:r>
              <a:t>• Dependencia del cliente.</a:t>
            </a:r>
            <a:br/>
            <a:r>
              <a:t>• Difícil adaptación inicial.</a:t>
            </a:r>
            <a:br/>
            <a:r>
              <a:t>• Menor documentación.</a:t>
            </a:r>
            <a:br/>
            <a:r>
              <a:t>• Requiere equipos organizados.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011680" cy="1097280"/>
          </a:xfrm>
          <a:prstGeom prst="roundRect">
            <a:avLst/>
          </a:prstGeom>
          <a:solidFill>
            <a:srgbClr val="DC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</a:rPr>
              <a:t>Casos de Uso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• Ecommerce</a:t>
            </a:r>
            <a:br/>
            <a:r>
              <a:t>• Apps móviles</a:t>
            </a:r>
            <a:br/>
            <a:r>
              <a:t>• Plataformas educativas</a:t>
            </a:r>
            <a:br/>
            <a:r>
              <a:t>• Sistemas bancarios</a:t>
            </a:r>
            <a:br/>
            <a:r>
              <a:t>• Empresas: Google, Spotify, Microsoft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011680" cy="1097280"/>
          </a:xfrm>
          <a:prstGeom prst="roundRect">
            <a:avLst/>
          </a:prstGeom>
          <a:solidFill>
            <a:srgbClr val="DC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</a:rPr>
              <a:t>Ejemplo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Sistema: Plataforma Educativa</a:t>
            </a:r>
            <a:br/>
            <a:br/>
            <a:r>
              <a:t>Sprint 1: Login</a:t>
            </a:r>
            <a:br/>
            <a:r>
              <a:t>Sprint 2: Cursos</a:t>
            </a:r>
            <a:br/>
            <a:r>
              <a:t>Sprint 3: Exámenes</a:t>
            </a:r>
            <a:br/>
            <a:r>
              <a:t>Sprint 4: Reportes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011680" cy="1097280"/>
          </a:xfrm>
          <a:prstGeom prst="roundRect">
            <a:avLst/>
          </a:prstGeom>
          <a:solidFill>
            <a:srgbClr val="DC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</a:rPr>
              <a:t>Comparativa: Scrum vs Cascada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Scrum:</a:t>
            </a:r>
            <a:br/>
            <a:r>
              <a:t>• Flexible</a:t>
            </a:r>
            <a:br/>
            <a:r>
              <a:t>• Cambios rápidos</a:t>
            </a:r>
            <a:br/>
            <a:r>
              <a:t>• Entregas continuas</a:t>
            </a:r>
            <a:br/>
            <a:br/>
            <a:r>
              <a:t>Cascada:</a:t>
            </a:r>
            <a:br/>
            <a:r>
              <a:t>• Estructura rígida</a:t>
            </a:r>
            <a:br/>
            <a:r>
              <a:t>• Cambios difíciles</a:t>
            </a:r>
            <a:br/>
            <a:r>
              <a:t>• Entrega final única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011680" cy="1097280"/>
          </a:xfrm>
          <a:prstGeom prst="roundRect">
            <a:avLst/>
          </a:prstGeom>
          <a:solidFill>
            <a:srgbClr val="DC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</a:rPr>
              <a:t>Conclusiones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• Scrum mejora organización.</a:t>
            </a:r>
            <a:br/>
            <a:r>
              <a:t>• Facilita adaptación.</a:t>
            </a:r>
            <a:br/>
            <a:r>
              <a:t>• Favorece entregas rápidas.</a:t>
            </a:r>
            <a:br/>
            <a:r>
              <a:t>• Recomendado para proyectos dinámicos.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011680" cy="1097280"/>
          </a:xfrm>
          <a:prstGeom prst="roundRect">
            <a:avLst/>
          </a:prstGeom>
          <a:solidFill>
            <a:srgbClr val="DC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</a:rPr>
              <a:t>Gracias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¿Preguntas?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011680" cy="1097280"/>
          </a:xfrm>
          <a:prstGeom prst="roundRect">
            <a:avLst/>
          </a:prstGeom>
          <a:solidFill>
            <a:srgbClr val="DC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SCRUM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